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0" r:id="rId7"/>
    <p:sldId id="258" r:id="rId8"/>
    <p:sldId id="261" r:id="rId9"/>
    <p:sldId id="286" r:id="rId10"/>
    <p:sldId id="287" r:id="rId11"/>
    <p:sldId id="283" r:id="rId12"/>
    <p:sldId id="28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HIKES IT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8399" y="4108706"/>
            <a:ext cx="10092267" cy="1409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PROJECT NAME: </a:t>
            </a:r>
            <a:r>
              <a:rPr lang="en-US" u="sng" dirty="0"/>
              <a:t>Exploratory Data Analysis of Large-Scale Retail Transaction Data Using Univariate, Bivariate, and Multivariate Statistical Techniques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CEE80D8-6BF5-979F-69E4-481EF0EAE985}"/>
              </a:ext>
            </a:extLst>
          </p:cNvPr>
          <p:cNvSpPr txBox="1">
            <a:spLocks/>
          </p:cNvSpPr>
          <p:nvPr/>
        </p:nvSpPr>
        <p:spPr>
          <a:xfrm>
            <a:off x="6300216" y="6314779"/>
            <a:ext cx="5942923" cy="543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GB" sz="180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BY: BHANU PRATAP SINGH.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200" y="4656667"/>
            <a:ext cx="11853333" cy="202353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/>
              <a:t>UNIVARIATE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Final price is right-skewed</a:t>
            </a:r>
            <a:r>
              <a:rPr lang="en-US" dirty="0"/>
              <a:t>, indicating presence of high-value orders and premium customers.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Product prices are uniformly distributed</a:t>
            </a:r>
            <a:r>
              <a:rPr lang="en-US" dirty="0"/>
              <a:t>, suggesting a stable pricing strategy.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Majority customers belong to the </a:t>
            </a:r>
            <a:r>
              <a:rPr lang="en-US" b="1" dirty="0"/>
              <a:t>“New” segment</a:t>
            </a:r>
            <a:r>
              <a:rPr lang="en-US" dirty="0"/>
              <a:t>, highlighting strong acquisition but possible retention gap.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Express shipping is most preferred</a:t>
            </a:r>
            <a:r>
              <a:rPr lang="en-US" dirty="0"/>
              <a:t>, showing customers value faster delivery.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Return rate is low</a:t>
            </a:r>
            <a:r>
              <a:rPr lang="en-US" dirty="0"/>
              <a:t>, indicating good product quality and customer satisfaction.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F20DED1-F6F9-ACC0-817D-F1DA62E3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49" y="177800"/>
            <a:ext cx="9974782" cy="408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8379" y="557742"/>
            <a:ext cx="4080221" cy="1044787"/>
          </a:xfrm>
        </p:spPr>
        <p:txBody>
          <a:bodyPr>
            <a:normAutofit/>
          </a:bodyPr>
          <a:lstStyle/>
          <a:p>
            <a:r>
              <a:rPr lang="en-US" dirty="0"/>
              <a:t>OUTLIER was detected only in Final price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A graph with a blue and black line&#10;&#10;Description automatically generated">
            <a:extLst>
              <a:ext uri="{FF2B5EF4-FFF2-40B4-BE49-F238E27FC236}">
                <a16:creationId xmlns:a16="http://schemas.microsoft.com/office/drawing/2014/main" id="{0C9BB7E2-FF38-A1B8-7CF5-FF010B8C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08" y="347133"/>
            <a:ext cx="6841780" cy="578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134011"/>
            <a:ext cx="3692472" cy="535531"/>
          </a:xfrm>
        </p:spPr>
        <p:txBody>
          <a:bodyPr/>
          <a:lstStyle/>
          <a:p>
            <a:r>
              <a:rPr lang="en-US" dirty="0"/>
              <a:t>OUTLIERS HANDLING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45562" y="1078456"/>
            <a:ext cx="3958167" cy="409324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original </a:t>
            </a:r>
            <a:r>
              <a:rPr lang="en-US" b="1" dirty="0" err="1"/>
              <a:t>final_price</a:t>
            </a:r>
            <a:r>
              <a:rPr lang="en-US" b="1" dirty="0"/>
              <a:t> distribution is heavily right-skewed</a:t>
            </a:r>
            <a:r>
              <a:rPr lang="en-US" dirty="0"/>
              <a:t>, with extreme high-value outliers.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IQR capping successfully limits extreme values</a:t>
            </a:r>
            <a:r>
              <a:rPr lang="en-US" dirty="0"/>
              <a:t> (around ~200K), reducing their impact without removing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Post-capping, the distribution becomes </a:t>
            </a:r>
            <a:r>
              <a:rPr lang="en-US" b="1" dirty="0"/>
              <a:t>more compact and stable</a:t>
            </a:r>
            <a:r>
              <a:rPr lang="en-US" dirty="0"/>
              <a:t>, especially in the upper range.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log-scale density shows minimal distortion</a:t>
            </a:r>
            <a:r>
              <a:rPr lang="en-US" dirty="0"/>
              <a:t>, meaning underlying data pattern is preserved.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Boxplot confirms </a:t>
            </a:r>
            <a:r>
              <a:rPr lang="en-US" b="1" dirty="0"/>
              <a:t>significant reduction in outliers</a:t>
            </a:r>
            <a:r>
              <a:rPr lang="en-US" dirty="0"/>
              <a:t>, with tighter whiskers after capping.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IQR capping improves </a:t>
            </a:r>
            <a:r>
              <a:rPr lang="en-US" b="1" dirty="0"/>
              <a:t>model reliability and robustness</a:t>
            </a:r>
            <a:r>
              <a:rPr lang="en-US" dirty="0"/>
              <a:t> by controlling extreme values.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2" name="Picture 11" descr="A graph of a price&#10;&#10;Description automatically generated with medium confidence">
            <a:extLst>
              <a:ext uri="{FF2B5EF4-FFF2-40B4-BE49-F238E27FC236}">
                <a16:creationId xmlns:a16="http://schemas.microsoft.com/office/drawing/2014/main" id="{C47D2B22-BB68-570C-5F32-5D964336D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630" y="377017"/>
            <a:ext cx="8125199" cy="3051983"/>
          </a:xfrm>
          <a:prstGeom prst="rect">
            <a:avLst/>
          </a:prstGeom>
        </p:spPr>
      </p:pic>
      <p:pic>
        <p:nvPicPr>
          <p:cNvPr id="14" name="Picture 13" descr="A graph with a line&#10;&#10;Description automatically generated">
            <a:extLst>
              <a:ext uri="{FF2B5EF4-FFF2-40B4-BE49-F238E27FC236}">
                <a16:creationId xmlns:a16="http://schemas.microsoft.com/office/drawing/2014/main" id="{AE45446B-7243-5D7E-0BE1-F300D467F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705" y="3672006"/>
            <a:ext cx="8213124" cy="288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Corealtion</a:t>
            </a:r>
            <a:r>
              <a:rPr lang="en-US" dirty="0"/>
              <a:t> with numeric variables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  <p:pic>
        <p:nvPicPr>
          <p:cNvPr id="9" name="Picture 8" descr="A screenshot of a graph">
            <a:extLst>
              <a:ext uri="{FF2B5EF4-FFF2-40B4-BE49-F238E27FC236}">
                <a16:creationId xmlns:a16="http://schemas.microsoft.com/office/drawing/2014/main" id="{1836CAE6-60BE-BA98-4842-CFEA51C36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873" y="1384967"/>
            <a:ext cx="7004127" cy="4396033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41BC13-849C-3924-7443-1DC068214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838" y="1384967"/>
            <a:ext cx="5157787" cy="494598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Final_price</a:t>
            </a:r>
            <a:r>
              <a:rPr lang="en-US" b="1" dirty="0"/>
              <a:t> has strong positive correlation with product-related variables (~0.78, ~0.55)</a:t>
            </a:r>
            <a:r>
              <a:rPr lang="en-US" dirty="0"/>
              <a:t>, indicating price is mainly driven by product value.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Very weak or near-zero correlation with </a:t>
            </a:r>
            <a:r>
              <a:rPr lang="en-US" b="1" dirty="0" err="1"/>
              <a:t>delivery_days</a:t>
            </a:r>
            <a:r>
              <a:rPr lang="en-US" b="1" dirty="0"/>
              <a:t> and year</a:t>
            </a:r>
            <a:r>
              <a:rPr lang="en-US" dirty="0"/>
              <a:t>, meaning time factors don’t influence pricing significantly.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Slight </a:t>
            </a:r>
            <a:r>
              <a:rPr lang="en-US" b="1" dirty="0"/>
              <a:t>negative correlation (~ -0.12)</a:t>
            </a:r>
            <a:r>
              <a:rPr lang="en-US" dirty="0"/>
              <a:t> suggests a minor inverse relationship with one variable (likely discount-related).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variables show </a:t>
            </a:r>
            <a:r>
              <a:rPr lang="en-US" b="1" dirty="0"/>
              <a:t>low inter-correlation</a:t>
            </a:r>
            <a:r>
              <a:rPr lang="en-US" dirty="0"/>
              <a:t>, reducing risk of multicollinearity.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Pricing behavior is </a:t>
            </a:r>
            <a:r>
              <a:rPr lang="en-US" b="1" dirty="0"/>
              <a:t>primarily dependent on product characteristics</a:t>
            </a:r>
            <a:r>
              <a:rPr lang="en-US" dirty="0"/>
              <a:t>, not operational factors.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the dataset is </a:t>
            </a:r>
            <a:r>
              <a:rPr lang="en-US" b="1" dirty="0"/>
              <a:t>well-suited for modeling</a:t>
            </a:r>
            <a:r>
              <a:rPr lang="en-US" dirty="0"/>
              <a:t>, with clear key drivers and minimal noise from unrelated features.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DB0D-525D-5F61-B982-893AD29F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Regressionl</a:t>
            </a:r>
            <a:r>
              <a:rPr lang="en-US" dirty="0"/>
              <a:t>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C774BF-D3C0-7DFC-081D-171740ED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5A988-8266-DC5A-C191-F991A486D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738" y="1681162"/>
            <a:ext cx="5214751" cy="4448176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Systematic Underestimation:</a:t>
            </a:r>
            <a:r>
              <a:rPr lang="en-US" dirty="0"/>
              <a:t> The model consistently predicts lower values than the actual price for higher-end items, suggesting a linear model is trying to fit a </a:t>
            </a:r>
            <a:r>
              <a:rPr lang="en-US" b="1" dirty="0"/>
              <a:t>non-linear relationship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Poor Low-End Fit:</a:t>
            </a:r>
            <a:r>
              <a:rPr lang="en-US" dirty="0"/>
              <a:t> There are significant </a:t>
            </a:r>
            <a:r>
              <a:rPr lang="en-US" b="1" dirty="0"/>
              <a:t>negative predictions</a:t>
            </a:r>
            <a:r>
              <a:rPr lang="en-US" dirty="0"/>
              <a:t> for low actual prices, which is physically impossible for a "final price" and indicates a lack of constraints or poor feature scaling.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Increased Variance:</a:t>
            </a:r>
            <a:r>
              <a:rPr lang="en-US" dirty="0"/>
              <a:t> The "funnel" shape shows that prediction error increases as the price grows, meaning the model becomes </a:t>
            </a:r>
            <a:r>
              <a:rPr lang="en-US" b="1" dirty="0"/>
              <a:t>less reliable</a:t>
            </a:r>
            <a:r>
              <a:rPr lang="en-US" dirty="0"/>
              <a:t> for more expensive assets.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Structural Bias:</a:t>
            </a:r>
            <a:r>
              <a:rPr lang="en-US" dirty="0"/>
              <a:t> The "split" in the data cloud at lower price points suggests an </a:t>
            </a:r>
            <a:r>
              <a:rPr lang="en-US" b="1" dirty="0"/>
              <a:t>omitted variable</a:t>
            </a:r>
            <a:r>
              <a:rPr lang="en-US" dirty="0"/>
              <a:t> or a specific category of data that follows a completely different trend.</a:t>
            </a:r>
          </a:p>
          <a:p>
            <a:pPr algn="l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0A342-2541-81F3-9C64-8663FFC19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graph with a red line&#10;&#10;Description automatically generated">
            <a:extLst>
              <a:ext uri="{FF2B5EF4-FFF2-40B4-BE49-F238E27FC236}">
                <a16:creationId xmlns:a16="http://schemas.microsoft.com/office/drawing/2014/main" id="{1D977694-BDB0-F7ED-1D4F-5FCFC55D37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00489" y="1534660"/>
            <a:ext cx="6605773" cy="4160156"/>
          </a:xfrm>
        </p:spPr>
      </p:pic>
    </p:spTree>
    <p:extLst>
      <p:ext uri="{BB962C8B-B14F-4D97-AF65-F5344CB8AC3E}">
        <p14:creationId xmlns:p14="http://schemas.microsoft.com/office/powerpoint/2010/main" val="1994409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D35C-7817-6A49-3BDA-59D9F40FB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SKEWNESS AND KURTOSIS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C69D18-D4BA-6523-7E70-ECEADE3F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10DF-E0F3-8F56-24EC-11E7C91CC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3786" y="4660355"/>
            <a:ext cx="11085513" cy="1654720"/>
          </a:xfrm>
        </p:spPr>
        <p:txBody>
          <a:bodyPr>
            <a:normAutofit/>
          </a:bodyPr>
          <a:lstStyle/>
          <a:p>
            <a:r>
              <a:rPr lang="en-US" dirty="0"/>
              <a:t>The metrics for </a:t>
            </a:r>
            <a:r>
              <a:rPr lang="en-US" b="1" dirty="0"/>
              <a:t>age, </a:t>
            </a:r>
            <a:r>
              <a:rPr lang="en-US" b="1" dirty="0" err="1"/>
              <a:t>product_price</a:t>
            </a:r>
            <a:r>
              <a:rPr lang="en-US" b="1" dirty="0"/>
              <a:t>, and discount</a:t>
            </a:r>
            <a:r>
              <a:rPr lang="en-US" dirty="0"/>
              <a:t> show near-zero skewness and negative excess kurtosis, indicating fairly </a:t>
            </a:r>
            <a:r>
              <a:rPr lang="en-US" b="1" dirty="0"/>
              <a:t>uniform/flat distributions</a:t>
            </a:r>
            <a:r>
              <a:rPr lang="en-US" dirty="0"/>
              <a:t> rather than bell curves. However, </a:t>
            </a:r>
            <a:r>
              <a:rPr lang="en-US" b="1" dirty="0" err="1"/>
              <a:t>final_price</a:t>
            </a:r>
            <a:r>
              <a:rPr lang="en-US" dirty="0"/>
              <a:t> is significantly </a:t>
            </a:r>
            <a:r>
              <a:rPr lang="en-US" b="1" dirty="0"/>
              <a:t>right-skewed (0.95)</a:t>
            </a:r>
            <a:r>
              <a:rPr lang="en-US" dirty="0"/>
              <a:t>, meaning a few high-value transactions are pulling the mean far above the median. The negative kurtosis across most features suggests a "platykurtic" distribution with </a:t>
            </a:r>
            <a:r>
              <a:rPr lang="en-US" b="1" dirty="0"/>
              <a:t>thin tails</a:t>
            </a:r>
            <a:r>
              <a:rPr lang="en-US" dirty="0"/>
              <a:t>, indicating fewer outliers than a normal distribution. In contrast, </a:t>
            </a:r>
            <a:r>
              <a:rPr lang="en-US" b="1" dirty="0" err="1"/>
              <a:t>final_price</a:t>
            </a:r>
            <a:r>
              <a:rPr lang="en-US" dirty="0"/>
              <a:t> has a positive kurtosis (0.20), confirming a more peaked distribution with a concentration of lower-priced sales.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867276DF-430F-C32E-26ED-BAF11A678B6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1525416" y="1051594"/>
            <a:ext cx="8532984" cy="3363163"/>
          </a:xfrm>
        </p:spPr>
      </p:pic>
    </p:spTree>
    <p:extLst>
      <p:ext uri="{BB962C8B-B14F-4D97-AF65-F5344CB8AC3E}">
        <p14:creationId xmlns:p14="http://schemas.microsoft.com/office/powerpoint/2010/main" val="1628677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 FACED</a:t>
            </a:r>
          </a:p>
        </p:txBody>
      </p:sp>
      <p:pic>
        <p:nvPicPr>
          <p:cNvPr id="20" name="Picture Placeholder 19" descr="Triangular pattern design with dimension">
            <a:extLst>
              <a:ext uri="{FF2B5EF4-FFF2-40B4-BE49-F238E27FC236}">
                <a16:creationId xmlns:a16="http://schemas.microsoft.com/office/drawing/2014/main" id="{3DCA2B8E-64D3-7645-8DEB-688ED5756F52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1500" y="2033563"/>
            <a:ext cx="11087100" cy="34718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Multiple approaches were applied to do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Faced multiple  runtime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Understanding of graphs and key concepts was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Each analysis was done </a:t>
            </a:r>
            <a:r>
              <a:rPr lang="en-US" sz="2800" dirty="0" err="1"/>
              <a:t>seprately</a:t>
            </a:r>
            <a:r>
              <a:rPr lang="en-US" sz="2800" dirty="0"/>
              <a:t> and lastly tailored all analytic codes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EEFF-4DF2-0513-5980-E4EE1347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FINAL RESULT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92995-9559-1098-3BF9-94AFDF17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7DC578-3D9F-B3B7-2CF6-9ADEB04756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0906" y="2711767"/>
            <a:ext cx="10301287" cy="2446020"/>
          </a:xfrm>
        </p:spPr>
        <p:txBody>
          <a:bodyPr/>
          <a:lstStyle/>
          <a:p>
            <a:r>
              <a:rPr lang="en-US" sz="2400" dirty="0"/>
              <a:t>Performed univariate, bivariate, and multivariate analysis </a:t>
            </a:r>
          </a:p>
          <a:p>
            <a:r>
              <a:rPr lang="en-US" sz="2400" dirty="0"/>
              <a:t>● Detected Outliers </a:t>
            </a:r>
          </a:p>
          <a:p>
            <a:r>
              <a:rPr lang="en-US" sz="2400" dirty="0"/>
              <a:t>● Measured correlation</a:t>
            </a:r>
          </a:p>
          <a:p>
            <a:r>
              <a:rPr lang="en-US" sz="2400" dirty="0"/>
              <a:t>● Analyzed skewness and kurtosis </a:t>
            </a:r>
          </a:p>
          <a:p>
            <a:r>
              <a:rPr lang="en-US" sz="2400" dirty="0"/>
              <a:t>● Extracted statistically meaningful business insight</a:t>
            </a:r>
          </a:p>
        </p:txBody>
      </p:sp>
    </p:spTree>
    <p:extLst>
      <p:ext uri="{BB962C8B-B14F-4D97-AF65-F5344CB8AC3E}">
        <p14:creationId xmlns:p14="http://schemas.microsoft.com/office/powerpoint/2010/main" val="396378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115</TotalTime>
  <Words>626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Trade Gothic LT Pro</vt:lpstr>
      <vt:lpstr>Trebuchet MS</vt:lpstr>
      <vt:lpstr>Office Theme</vt:lpstr>
      <vt:lpstr>NEXT HIKES IT SOLUTIONS</vt:lpstr>
      <vt:lpstr>PowerPoint Presentation</vt:lpstr>
      <vt:lpstr>PowerPoint Presentation</vt:lpstr>
      <vt:lpstr>OUTLIERS HANDLING</vt:lpstr>
      <vt:lpstr>Corealtion with numeric variables</vt:lpstr>
      <vt:lpstr>Regressionl Analysis</vt:lpstr>
      <vt:lpstr>SKEWNESS AND KURTOSIS</vt:lpstr>
      <vt:lpstr>CHALLENGES FACED</vt:lpstr>
      <vt:lpstr>FINAL RESULT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 Pratap Singh</dc:creator>
  <cp:lastModifiedBy>Bhanu Pratap Singh</cp:lastModifiedBy>
  <cp:revision>1</cp:revision>
  <dcterms:created xsi:type="dcterms:W3CDTF">2026-03-25T16:10:31Z</dcterms:created>
  <dcterms:modified xsi:type="dcterms:W3CDTF">2026-03-25T18:06:12Z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